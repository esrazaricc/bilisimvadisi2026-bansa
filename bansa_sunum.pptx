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13632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60520" y="0"/>
            <a:ext cx="3913632" cy="73152"/>
          </a:xfrm>
          <a:prstGeom prst="rect">
            <a:avLst/>
          </a:prstGeom>
          <a:solidFill>
            <a:srgbClr val="3770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75320" y="0"/>
            <a:ext cx="3913632" cy="73152"/>
          </a:xfrm>
          <a:prstGeom prst="rect">
            <a:avLst/>
          </a:prstGeom>
          <a:solidFill>
            <a:srgbClr val="35C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48640"/>
            <a:ext cx="1097280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BANSA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Doğrulanabilir Katılım Bankacılığı</a:t>
            </a:r>
            <a:br/>
            <a:r>
              <a:rPr sz="2500" b="1">
                <a:solidFill>
                  <a:srgbClr val="FFFFFF"/>
                </a:solidFill>
                <a:latin typeface="Aptos Display"/>
              </a:rPr>
              <a:t>Yapay Zekâ Ajanı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01952"/>
            <a:ext cx="107899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0">
                <a:solidFill>
                  <a:srgbClr val="BFD6E7"/>
                </a:solidFill>
                <a:latin typeface="Aptos"/>
              </a:rPr>
              <a:t>Resmî banka verisini → yapılandırılmış kanıta → güvenli finans cevabına dönüştüren hibrit mimari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15184"/>
            <a:ext cx="47548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5C9D9"/>
                </a:solidFill>
                <a:latin typeface="Aptos"/>
              </a:rPr>
              <a:t>TAKIM VE SORUMLULUKLAR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44368"/>
            <a:ext cx="7086600" cy="1298448"/>
          </a:xfrm>
          <a:prstGeom prst="roundRect">
            <a:avLst/>
          </a:prstGeom>
          <a:solidFill>
            <a:srgbClr val="112744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3127248"/>
            <a:ext cx="301752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Esra Zariç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456432"/>
            <a:ext cx="320040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TAKIM KAPTANI · TEKNİK LİDER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58768" y="3072384"/>
            <a:ext cx="356616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DAE5EE"/>
                </a:solidFill>
                <a:latin typeface="Aptos"/>
              </a:rPr>
              <a:t>Sistem mimarisi · veri modeli · normalizasyon · RAG/LLM · agent/tool orchestration · deterministic finans motoru · verifier/güvenlik · entegrasyon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25696"/>
            <a:ext cx="7086600" cy="530352"/>
          </a:xfrm>
          <a:prstGeom prst="roundRect">
            <a:avLst/>
          </a:prstGeom>
          <a:solidFill>
            <a:srgbClr val="112744"/>
          </a:solidFill>
          <a:ln w="12700">
            <a:solidFill>
              <a:srgbClr val="3A4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98848"/>
            <a:ext cx="21488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Koray Demir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4489704"/>
            <a:ext cx="45262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C9D8E4"/>
                </a:solidFill>
                <a:latin typeface="Aptos"/>
              </a:rPr>
              <a:t>Veri toplama · web scraping · banka kaynak entegrasyonları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029200"/>
            <a:ext cx="7086600" cy="530352"/>
          </a:xfrm>
          <a:prstGeom prst="roundRect">
            <a:avLst/>
          </a:prstGeom>
          <a:solidFill>
            <a:srgbClr val="112744"/>
          </a:solidFill>
          <a:ln w="12700">
            <a:solidFill>
              <a:srgbClr val="3A4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5102352"/>
            <a:ext cx="21488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Gökçe Sürücü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07792" y="5093208"/>
            <a:ext cx="45262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C9D8E4"/>
                </a:solidFill>
                <a:latin typeface="Aptos"/>
              </a:rPr>
              <a:t>Streamlit arayüz · dashboard · kullanıcı deneyimi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5632704"/>
            <a:ext cx="7086600" cy="530352"/>
          </a:xfrm>
          <a:prstGeom prst="roundRect">
            <a:avLst/>
          </a:prstGeom>
          <a:solidFill>
            <a:srgbClr val="112744"/>
          </a:solidFill>
          <a:ln w="12700">
            <a:solidFill>
              <a:srgbClr val="3A4F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705856"/>
            <a:ext cx="21488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ptos"/>
              </a:rPr>
              <a:t>Abdullah Güngör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07792" y="5696712"/>
            <a:ext cx="452628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C9D8E4"/>
                </a:solidFill>
                <a:latin typeface="Aptos"/>
              </a:rPr>
              <a:t>Regression test · QA · demo/deploy hazırlığı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2944368"/>
            <a:ext cx="3529584" cy="2852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3172968"/>
            <a:ext cx="301752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PROJENİN BUGÜNKÜ ÖLÇEĞİ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566160"/>
            <a:ext cx="1097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10/10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3593591"/>
            <a:ext cx="18288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BDDK kapsamındaki banka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24528"/>
            <a:ext cx="1097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274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4251960"/>
            <a:ext cx="18288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standart ürün snapshot’ı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882896"/>
            <a:ext cx="10972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200" b="1">
                <a:solidFill>
                  <a:srgbClr val="00A6A6"/>
                </a:solidFill>
                <a:latin typeface="Aptos"/>
              </a:rPr>
              <a:t>800+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8592" y="4910328"/>
            <a:ext cx="18288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ilerleyen fazlarda regresyon testi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5596128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4 dakikada: veri toplama → RAG → agent → güvenilir cevap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46520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BA0B2"/>
                </a:solidFill>
                <a:latin typeface="Aptos"/>
              </a:rPr>
              <a:t>Kaynak: BANSA teknik gelişim özeti ve proje içi test/audit kayıtları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46520"/>
            <a:ext cx="4114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BA0B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NEDEN BANSA?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Basit bir scraper’dan neden çok katmanlı bir finans ajanına geçtik?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İlk hedef kampanya ve ürünleri listelemekti. Gerçek banka siteleriyle karşılaşınca güvenilirlik, güncellik ve doğal dil için ayrı katmanlar gerekti.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2112264"/>
            <a:ext cx="329184" cy="32918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TOPLA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Resmî banka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sayfaları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404872"/>
            <a:ext cx="2560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68879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578608" y="2112264"/>
            <a:ext cx="329184" cy="329184"/>
          </a:xfrm>
          <a:prstGeom prst="ellipse">
            <a:avLst/>
          </a:prstGeom>
          <a:solidFill>
            <a:srgbClr val="3770DB"/>
          </a:solidFill>
          <a:ln>
            <a:solidFill>
              <a:srgbClr val="37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78608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YAPILANDIR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24327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Ürün · kampanya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finans alanları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2404872"/>
            <a:ext cx="2560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53128" y="2112264"/>
            <a:ext cx="329184" cy="329184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53128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ANLA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848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RAG + NLU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intent /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2404872"/>
            <a:ext cx="2560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327648" y="2112264"/>
            <a:ext cx="329184" cy="329184"/>
          </a:xfrm>
          <a:prstGeom prst="ellipse">
            <a:avLst/>
          </a:prstGeom>
          <a:solidFill>
            <a:srgbClr val="EF973B"/>
          </a:solidFill>
          <a:ln>
            <a:solidFill>
              <a:srgbClr val="EF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27648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9983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EF973B"/>
                </a:solidFill>
                <a:latin typeface="Aptos"/>
              </a:rPr>
              <a:t>HESAPLA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3368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Deterministic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finance tools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404872"/>
            <a:ext cx="2560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02167" y="2112264"/>
            <a:ext cx="329184" cy="329184"/>
          </a:xfrm>
          <a:prstGeom prst="ellipse">
            <a:avLst/>
          </a:prstGeom>
          <a:solidFill>
            <a:srgbClr val="279A66"/>
          </a:solidFill>
          <a:ln>
            <a:solidFill>
              <a:srgbClr val="27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7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04504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279A66"/>
                </a:solidFill>
                <a:latin typeface="Aptos"/>
              </a:rPr>
              <a:t>DOĞRULA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47888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Freshness · exact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verifier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2404872"/>
            <a:ext cx="25603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0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66959" y="1965960"/>
            <a:ext cx="1719072" cy="130759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0076687" y="2112264"/>
            <a:ext cx="329184" cy="329184"/>
          </a:xfrm>
          <a:prstGeom prst="ellipse">
            <a:avLst/>
          </a:prstGeom>
          <a:solidFill>
            <a:srgbClr val="0A192F"/>
          </a:solidFill>
          <a:ln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076687" y="2116836"/>
            <a:ext cx="329184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479024" y="2084831"/>
            <a:ext cx="1078992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CEVAPLA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7" y="2487168"/>
            <a:ext cx="141732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1C2736"/>
                </a:solidFill>
                <a:latin typeface="Aptos"/>
              </a:rPr>
              <a:t>Doğal + kaynaklı</a:t>
            </a:r>
            <a:br/>
            <a:r>
              <a:rPr sz="1100" b="1">
                <a:solidFill>
                  <a:srgbClr val="1C2736"/>
                </a:solidFill>
                <a:latin typeface="Aptos"/>
              </a:rPr>
              <a:t>BANSA cevabı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4360" y="3703320"/>
            <a:ext cx="3474720" cy="1408176"/>
          </a:xfrm>
          <a:prstGeom prst="roundRect">
            <a:avLst/>
          </a:prstGeom>
          <a:solidFill>
            <a:srgbClr val="FAF4F4"/>
          </a:solidFill>
          <a:ln w="12700">
            <a:solidFill>
              <a:srgbClr val="F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1248" y="3895344"/>
            <a:ext cx="283464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A4C4C"/>
                </a:solidFill>
                <a:latin typeface="Aptos"/>
              </a:rPr>
              <a:t>SADECE LLM NEDEN YETMEZ?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1248" y="4224528"/>
            <a:ext cx="2907792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Kâr payı, taksit, vade ve masraf gibi rakamlarda hallucination riski vardır. Bu yüzden finansal gerçeklik LLM’e bırakılmaz.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703320"/>
            <a:ext cx="3474720" cy="1408176"/>
          </a:xfrm>
          <a:prstGeom prst="roundRect">
            <a:avLst/>
          </a:prstGeom>
          <a:solidFill>
            <a:srgbClr val="F3F8FD"/>
          </a:solidFill>
          <a:ln w="1270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90288" y="3895344"/>
            <a:ext cx="283464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3770DB"/>
                </a:solidFill>
                <a:latin typeface="Aptos"/>
              </a:rPr>
              <a:t>SADECE SQL NEDEN YETMEZ?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90288" y="4224528"/>
            <a:ext cx="2880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Kullanıcı “avantajı ne?”, “kimler yararlanabilir?” gibi semantik sorular sorar. Yapılandırılmış alanlar tek başına bunu açıklayamaz.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92440" y="3703320"/>
            <a:ext cx="3474720" cy="1408176"/>
          </a:xfrm>
          <a:prstGeom prst="roundRect">
            <a:avLst/>
          </a:prstGeom>
          <a:solidFill>
            <a:srgbClr val="F1F9F8"/>
          </a:solidFill>
          <a:ln w="12700">
            <a:solidFill>
              <a:srgbClr val="D1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39327" y="3895344"/>
            <a:ext cx="283464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SONUÇ: HİBRİT MİMARİ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39327" y="4224528"/>
            <a:ext cx="2880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LLM + RAG + deterministic tools + resmî calculator adapter’ları birlikte çalışır; her katman yalnız güçlü olduğu işi yapar.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02920" y="5486400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13232" y="5641848"/>
            <a:ext cx="256032" cy="25603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78992" y="5568696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ANA FİKİR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95728" y="5550408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BANSA’nın başarısı tek bir modelden değil, finansal doğruluk ile doğal dil yeteneğini kontrollü biçimde ayıran sistem tasarımından geliyor.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1 · VERI TOPLAMA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Resmî banka evrenini izlenebilir veri kaynağına dönüştürdük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Banka listesi elle seçilmedi; BDDK kapsamındaki 10 katılım bankası temel alındı. Her bankanın web yapısı farklı olduğu için banka-bazlı discovery/fetch yaklaşımı kuruldu.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58368" y="1883664"/>
            <a:ext cx="384048" cy="384048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897380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7008" y="1847088"/>
            <a:ext cx="2011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BDDK EVRENİ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103120"/>
            <a:ext cx="2514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10 katılım bankası</a:t>
            </a:r>
            <a:br/>
            <a:r>
              <a:rPr sz="1100" b="0">
                <a:solidFill>
                  <a:srgbClr val="1C2736"/>
                </a:solidFill>
                <a:latin typeface="Aptos"/>
              </a:rPr>
              <a:t>10/10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395728"/>
            <a:ext cx="20116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↓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825496"/>
            <a:ext cx="384048" cy="384048"/>
          </a:xfrm>
          <a:prstGeom prst="ellipse">
            <a:avLst/>
          </a:prstGeom>
          <a:solidFill>
            <a:srgbClr val="3770DB"/>
          </a:solidFill>
          <a:ln>
            <a:solidFill>
              <a:srgbClr val="37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839212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8" y="2788920"/>
            <a:ext cx="2011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3770DB"/>
                </a:solidFill>
                <a:latin typeface="Aptos"/>
              </a:rPr>
              <a:t>DISCOVERY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044952"/>
            <a:ext cx="2514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Kategori → detay URL</a:t>
            </a:r>
            <a:br/>
            <a:r>
              <a:rPr sz="1100" b="0">
                <a:solidFill>
                  <a:srgbClr val="1C2736"/>
                </a:solidFill>
                <a:latin typeface="Aptos"/>
              </a:rPr>
              <a:t>SharePoint / AJAX / 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337560"/>
            <a:ext cx="20116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↓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3767328"/>
            <a:ext cx="384048" cy="384048"/>
          </a:xfrm>
          <a:prstGeom prst="ellipse">
            <a:avLst/>
          </a:prstGeom>
          <a:solidFill>
            <a:srgbClr val="EF973B"/>
          </a:solidFill>
          <a:ln>
            <a:solidFill>
              <a:srgbClr val="EF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781044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730752"/>
            <a:ext cx="2011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F973B"/>
                </a:solidFill>
                <a:latin typeface="Aptos"/>
              </a:rPr>
              <a:t>FETCH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3986784"/>
            <a:ext cx="2514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requests + BeautifulSoup</a:t>
            </a:r>
            <a:br/>
            <a:r>
              <a:rPr sz="1100" b="0">
                <a:solidFill>
                  <a:srgbClr val="1C2736"/>
                </a:solidFill>
                <a:latin typeface="Aptos"/>
              </a:rPr>
              <a:t>Selenium gerektiğinde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279392"/>
            <a:ext cx="20116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↓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" y="4709160"/>
            <a:ext cx="384048" cy="384048"/>
          </a:xfrm>
          <a:prstGeom prst="ellipse">
            <a:avLst/>
          </a:prstGeom>
          <a:solidFill>
            <a:srgbClr val="279A66"/>
          </a:solidFill>
          <a:ln>
            <a:solidFill>
              <a:srgbClr val="27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4722876"/>
            <a:ext cx="38404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672584"/>
            <a:ext cx="20116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79A66"/>
                </a:solidFill>
                <a:latin typeface="Aptos"/>
              </a:rPr>
              <a:t>SINIFLANDIR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4928616"/>
            <a:ext cx="251460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campaign</a:t>
            </a:r>
            <a:br/>
            <a:r>
              <a:rPr sz="1100" b="0">
                <a:solidFill>
                  <a:srgbClr val="1C2736"/>
                </a:solidFill>
                <a:latin typeface="Aptos"/>
              </a:rPr>
              <a:t>standard_product</a:t>
            </a:r>
            <a:br/>
            <a:r>
              <a:rPr sz="1100" b="0">
                <a:solidFill>
                  <a:srgbClr val="1C2736"/>
                </a:solidFill>
                <a:latin typeface="Aptos"/>
              </a:rPr>
              <a:t>other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60520" y="1847088"/>
            <a:ext cx="7223760" cy="358444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43984" y="2084831"/>
            <a:ext cx="6583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Aptos"/>
              </a:rPr>
              <a:t>NEDEN TEK “UNIVERSAL SCRAPER” KULLANMADIK?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43984" y="2468880"/>
            <a:ext cx="644652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1C2736"/>
                </a:solidFill>
                <a:latin typeface="Aptos"/>
              </a:rPr>
              <a:t>Bankaların URL yapıları, kampanya kategori akışları ve sayfa render biçimleri birbirinden farklıydı. Bu nedenle ortak bir scraping contract tanımladık; banka bazında yalnız discovery/fetch davranışını özelleştirdik.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43984" y="3246120"/>
            <a:ext cx="6355080" cy="1627632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81728" y="3447288"/>
            <a:ext cx="19659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5C9D9"/>
                </a:solidFill>
                <a:latin typeface="Aptos"/>
              </a:rPr>
              <a:t>ORTAK CONTRACT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1728" y="3749039"/>
            <a:ext cx="201168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• fetch page</a:t>
            </a:r>
            <a:br/>
            <a:r>
              <a:rPr sz="1000" b="0">
                <a:solidFill>
                  <a:srgbClr val="FFFFFF"/>
                </a:solidFill>
                <a:latin typeface="Aptos"/>
              </a:rPr>
              <a:t>• extract main content</a:t>
            </a:r>
            <a:br/>
            <a:r>
              <a:rPr sz="1000" b="0">
                <a:solidFill>
                  <a:srgbClr val="FFFFFF"/>
                </a:solidFill>
                <a:latin typeface="Aptos"/>
              </a:rPr>
              <a:t>• classify page</a:t>
            </a:r>
            <a:br/>
            <a:r>
              <a:rPr sz="1000" b="0">
                <a:solidFill>
                  <a:srgbClr val="FFFFFF"/>
                </a:solidFill>
                <a:latin typeface="Aptos"/>
              </a:rPr>
              <a:t>• persist source 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3447288"/>
            <a:ext cx="19659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FFBF69"/>
                </a:solidFill>
                <a:latin typeface="Aptos"/>
              </a:rPr>
              <a:t>BANKA OVERRIDE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3749039"/>
            <a:ext cx="352044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• kampanya URL keşfi</a:t>
            </a:r>
            <a:br/>
            <a:r>
              <a:rPr sz="1000" b="0">
                <a:solidFill>
                  <a:srgbClr val="FFFFFF"/>
                </a:solidFill>
                <a:latin typeface="Aptos"/>
              </a:rPr>
              <a:t>• JS/AJAX detay erişimi</a:t>
            </a:r>
            <a:br/>
            <a:r>
              <a:rPr sz="1000" b="0">
                <a:solidFill>
                  <a:srgbClr val="FFFFFF"/>
                </a:solidFill>
                <a:latin typeface="Aptos"/>
              </a:rPr>
              <a:t>• özel kategori veya endpoint kuralları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577840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3232" y="5733288"/>
            <a:ext cx="256032" cy="256032"/>
          </a:xfrm>
          <a:prstGeom prst="ellipse">
            <a:avLst/>
          </a:prstGeom>
          <a:solidFill>
            <a:srgbClr val="279A66"/>
          </a:solidFill>
          <a:ln>
            <a:solidFill>
              <a:srgbClr val="27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5660136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279A66"/>
                </a:solidFill>
                <a:latin typeface="Aptos"/>
              </a:rPr>
              <a:t>ÇIKTI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95728" y="5641848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Her veri için banka, ürün/kampanya türü, kaynak URL ve kontrol zamanı saklandığı için sonraki RAG ve finans katmanları “kanıtsız” bilgiyle çalışmıyor.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2 · TEMIZLEME &amp; NORMALIZASYON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Ham HTML’yi güvenilir, kanonik finans verisine çevirdik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Scraping sonucu gelen metin; menü, footer, komşu kartlar ve calculator widget’ları gibi gürültüler içeriyordu. Bu gürültü temizlenmeden yanlış taksit/vade bilgisi RAG’e taşınabilirdi.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66928" y="1847088"/>
            <a:ext cx="3547872" cy="321868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84831"/>
            <a:ext cx="301752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A4C4C"/>
                </a:solidFill>
                <a:latin typeface="Aptos"/>
              </a:rPr>
              <a:t>1 · SANITIZATION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532888"/>
            <a:ext cx="2971800" cy="16642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Menü / breadcrumb / footer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SSS ve ilgili kartlar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Komşu kampanya rakamları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Calculator widget değerleri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847088"/>
            <a:ext cx="3547872" cy="321868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084831"/>
            <a:ext cx="301752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3770DB"/>
                </a:solidFill>
                <a:latin typeface="Aptos"/>
              </a:rPr>
              <a:t>2 · TÜRKÇE NORMALİZASYON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576" y="2532888"/>
            <a:ext cx="2971800" cy="16642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Karakter + lower/casefold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Noktalama / stop-word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Banka alias eşleştirme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Ürün family canonicalization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01583" y="1847088"/>
            <a:ext cx="3547872" cy="321868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57615" y="2084831"/>
            <a:ext cx="301752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79A66"/>
                </a:solidFill>
                <a:latin typeface="Aptos"/>
              </a:rPr>
              <a:t>3 · STRUCTURED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532888"/>
            <a:ext cx="2971800" cy="1664208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maximum_maturity_months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profit_share_rate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financing_ratio / limits</a:t>
            </a:r>
          </a:p>
          <a:p>
            <a:pPr>
              <a:buChar char="•"/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1C2736"/>
                </a:solidFill>
                <a:latin typeface="Aptos"/>
              </a:defRPr>
            </a:pPr>
            <a:r>
              <a:t>fees + finance_rules_json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5230368"/>
            <a:ext cx="11082528" cy="749808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431536"/>
            <a:ext cx="10561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Aptos"/>
              </a:rPr>
              <a:t>Vakıf · Vakıf Katılım · Vakıf Katılım Bankası</a:t>
            </a:r>
            <a:r>
              <a:rPr sz="1000" b="1">
                <a:solidFill>
                  <a:srgbClr val="35C9D9"/>
                </a:solidFill>
                <a:latin typeface="Aptos"/>
              </a:rPr>
              <a:t>  →  VAKIF_KATILIM</a:t>
            </a:r>
            <a:r>
              <a:rPr sz="1000" b="0">
                <a:solidFill>
                  <a:srgbClr val="96AABC"/>
                </a:solidFill>
                <a:latin typeface="Aptos"/>
              </a:rPr>
              <a:t>      |      </a:t>
            </a:r>
            <a:r>
              <a:rPr sz="1000" b="0">
                <a:solidFill>
                  <a:srgbClr val="FFFFFF"/>
                </a:solidFill>
                <a:latin typeface="Aptos"/>
              </a:rPr>
              <a:t>araç · taşıt · otomobil · binek</a:t>
            </a:r>
            <a:r>
              <a:rPr sz="1000" b="1">
                <a:solidFill>
                  <a:srgbClr val="FFBF69"/>
                </a:solidFill>
                <a:latin typeface="Aptos"/>
              </a:rPr>
              <a:t>  →  ARAÇ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6053328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2" y="6208776"/>
            <a:ext cx="256032" cy="256032"/>
          </a:xfrm>
          <a:prstGeom prst="ellipse">
            <a:avLst/>
          </a:prstGeom>
          <a:solidFill>
            <a:srgbClr val="EF973B"/>
          </a:solidFill>
          <a:ln>
            <a:solidFill>
              <a:srgbClr val="EF9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6135624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EF973B"/>
                </a:solidFill>
                <a:latin typeface="Aptos"/>
              </a:rPr>
              <a:t>KRİTİK AYRIM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6117336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Eligibility (azami finansman oranı / vade) ile pricing (kâr payı / taksit / toplam geri ödeme) farklı veri sınıflarıdır; sistem bunları birbirine karıştırmaz.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3 · VERI OMURGASI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SQLite prototipinden PostgreSQL source-of-truth katmanına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İlk prototipte SQLite yeterliydi. Veri hacmi, değişiklik takibi ve doğrulanmış senaryolar büyüdükçe PostgreSQL’e geçilerek veri kökeni ve geçmişi denetlenebilir hale getirildi.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01952"/>
            <a:ext cx="2926080" cy="144475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21408"/>
            <a:ext cx="22860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3770DB"/>
                </a:solidFill>
                <a:latin typeface="Aptos"/>
              </a:rPr>
              <a:t>SQLite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2267712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İlk prototip / portable demo</a:t>
            </a:r>
            <a:br/>
            <a:r>
              <a:rPr sz="1000" b="0">
                <a:solidFill>
                  <a:srgbClr val="1C2736"/>
                </a:solidFill>
                <a:latin typeface="Aptos"/>
              </a:rPr>
              <a:t>campaigns · products · banks · clean_text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304288"/>
            <a:ext cx="5029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5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901952"/>
            <a:ext cx="3063240" cy="1444752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2121408"/>
            <a:ext cx="24231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Aptos"/>
              </a:rPr>
              <a:t>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2487168"/>
            <a:ext cx="237744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D6E2EC"/>
                </a:solidFill>
                <a:latin typeface="Aptos"/>
              </a:rPr>
              <a:t>schema: bansa</a:t>
            </a:r>
            <a:br/>
            <a:r>
              <a:rPr sz="1000" b="0">
                <a:solidFill>
                  <a:srgbClr val="D6E2EC"/>
                </a:solidFill>
                <a:latin typeface="Aptos"/>
              </a:rPr>
              <a:t>Production / source-of-truth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304288"/>
            <a:ext cx="50292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5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6679" y="1901952"/>
            <a:ext cx="3794760" cy="1444752"/>
          </a:xfrm>
          <a:prstGeom prst="roundRect">
            <a:avLst/>
          </a:prstGeom>
          <a:solidFill>
            <a:srgbClr val="F1F9F8"/>
          </a:solidFill>
          <a:ln w="12700">
            <a:solidFill>
              <a:srgbClr val="D1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2121408"/>
            <a:ext cx="32004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500" b="1">
                <a:solidFill>
                  <a:srgbClr val="00A6A6"/>
                </a:solidFill>
                <a:latin typeface="Aptos"/>
              </a:rPr>
              <a:t>İzlenebilir Finansal Kanıt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487168"/>
            <a:ext cx="320040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Kaynağı · zamanı · değişimi · exact senaryosu bilinen veri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675887"/>
            <a:ext cx="109728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POSTGRESQL VERİ MODELİ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4005072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7" y="4114800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banks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95728" y="4105656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kimlik · alias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34255" y="4005072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17136" y="4114800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standard_products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5" y="4105656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ürün + finans alanları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10143" y="4005072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3023" y="4114800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source_pages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47503" y="4105656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resmî URL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846320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7" y="4956048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source_snapshots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95728" y="4946904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content hash + geçmiş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5" y="4846320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7136" y="4956048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sync_runs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71615" y="4946904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created / changed / removed / reactivated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10143" y="4846320"/>
            <a:ext cx="3493008" cy="685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93023" y="4956048"/>
            <a:ext cx="173736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verified_finance_scenarios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47503" y="4946904"/>
            <a:ext cx="150876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exact tutar + vade sonuçları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5815584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13232" y="5971032"/>
            <a:ext cx="256032" cy="25603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78992" y="5897880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NEDEN ÖNEMLİ?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95728" y="5879592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Jüri “Bu oran nereden geldi ve ne kadar güncel?” diye sorduğunda BANSA yalnız cevabı değil; source_url, last_checked, content hash, snapshot ve sync geçmişini de gösterebilir.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4 · RAG &amp;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Structure-Aware Chunking + Qwen Embedding + BM25 + RRF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Finans dokümanlarında vade, oran ve koşul aynı başlık veya tablo içinde ilişkilidir. Bu yüzden sabit boyutlu chunking yerine yapıyı koruyan semantik chunking kullandık.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847088"/>
            <a:ext cx="3154680" cy="2057400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84831"/>
            <a:ext cx="256032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A192F"/>
                </a:solidFill>
                <a:latin typeface="Aptos"/>
              </a:rPr>
              <a:t>CHUNKING KARARI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2514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DA4C4C"/>
                </a:solidFill>
                <a:latin typeface="Aptos"/>
              </a:rPr>
              <a:t>Fixed-size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487168"/>
            <a:ext cx="9144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✕ tabloyu bölebilir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871216"/>
            <a:ext cx="2514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EF973B"/>
                </a:solidFill>
                <a:latin typeface="Aptos"/>
              </a:rPr>
              <a:t>Recursive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2871216"/>
            <a:ext cx="100584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△ kısmen korur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55264"/>
            <a:ext cx="25146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279A66"/>
                </a:solidFill>
                <a:latin typeface="Aptos"/>
              </a:rPr>
              <a:t>Structure-Aware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255264"/>
            <a:ext cx="10972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5B697B"/>
                </a:solidFill>
                <a:latin typeface="Aptos"/>
              </a:rPr>
              <a:t>✓ tercih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05072" y="1847088"/>
            <a:ext cx="7479792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9392" y="2084831"/>
            <a:ext cx="67665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A192F"/>
                </a:solidFill>
                <a:latin typeface="Aptos"/>
              </a:rPr>
              <a:t>HYBRID RETRIEVAL AKIŞI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15968" y="2542032"/>
            <a:ext cx="1508760" cy="84124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651760"/>
            <a:ext cx="13258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3770DB"/>
                </a:solidFill>
                <a:latin typeface="Aptos"/>
              </a:rPr>
              <a:t>Dense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907792"/>
            <a:ext cx="1325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1C2736"/>
                </a:solidFill>
                <a:latin typeface="Aptos"/>
              </a:rPr>
              <a:t>Qwen3-Embedding-0.6B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59" y="2761488"/>
            <a:ext cx="29260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99048" y="2542032"/>
            <a:ext cx="1508760" cy="84124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651760"/>
            <a:ext cx="13258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EF973B"/>
                </a:solidFill>
                <a:latin typeface="Aptos"/>
              </a:rPr>
              <a:t>Sparse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0488" y="2907792"/>
            <a:ext cx="1325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1C2736"/>
                </a:solidFill>
                <a:latin typeface="Aptos"/>
              </a:rPr>
              <a:t>BM25 exact keyword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761488"/>
            <a:ext cx="29260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82127" y="2542032"/>
            <a:ext cx="1508760" cy="84124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73567" y="2651760"/>
            <a:ext cx="13258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00A6A6"/>
                </a:solidFill>
                <a:latin typeface="Aptos"/>
              </a:rPr>
              <a:t>Fusion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7" y="2907792"/>
            <a:ext cx="1325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1C2736"/>
                </a:solidFill>
                <a:latin typeface="Aptos"/>
              </a:rPr>
              <a:t>RRF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19" y="2761488"/>
            <a:ext cx="292608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665207" y="2542032"/>
            <a:ext cx="1508760" cy="841248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56647" y="2651760"/>
            <a:ext cx="13258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279A66"/>
                </a:solidFill>
                <a:latin typeface="Aptos"/>
              </a:rP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6647" y="2907792"/>
            <a:ext cx="1325880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1C2736"/>
                </a:solidFill>
                <a:latin typeface="Aptos"/>
              </a:rPr>
              <a:t>Evidence Pack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" y="4187952"/>
            <a:ext cx="5212080" cy="1225296"/>
          </a:xfrm>
          <a:prstGeom prst="roundRect">
            <a:avLst/>
          </a:prstGeom>
          <a:solidFill>
            <a:srgbClr val="F3F8FD"/>
          </a:solidFill>
          <a:ln w="1270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416552"/>
            <a:ext cx="466344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CHUNK İÇİNDE KORUDUĞUMUZ YAPI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736592"/>
            <a:ext cx="466344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HTML başlıkları · ürün bölümleri · tablolar · “avantajlar / koşullar / masraflar / başvuru” semantik blokları · kaynak metadata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08192" y="4187952"/>
            <a:ext cx="5376672" cy="1225296"/>
          </a:xfrm>
          <a:prstGeom prst="roundRect">
            <a:avLst/>
          </a:prstGeom>
          <a:solidFill>
            <a:srgbClr val="FAF4F4"/>
          </a:solidFill>
          <a:ln w="12700">
            <a:solidFill>
              <a:srgbClr val="F2D7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4416552"/>
            <a:ext cx="475488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DA4C4C"/>
                </a:solidFill>
                <a:latin typeface="Aptos"/>
              </a:rPr>
              <a:t>RAG İÇİN GÜVENLİK KURALI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736592"/>
            <a:ext cx="4754880" cy="43891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Dinamik calculator widget sayıları normal RAG numeric evidence değildir. Finansal rakamların sahibi structured finance engine / live adapter katmanıdır.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96128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3232" y="5751576"/>
            <a:ext cx="256032" cy="256032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5678424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0A6A6"/>
                </a:solidFill>
                <a:latin typeface="Aptos"/>
              </a:rPr>
              <a:t>SONUÇ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5660136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Dense retrieval semantiği, BM25 banka/ürün gibi exact terimleri yakalar; RRF ikisini birleştirir, Evidence Pack ise sorguyla gerçekten ilişkili kanıtı seçer.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5 · AGENT &amp; FINANS MOTORU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LLM “ne yapılacağını” seçer; finansal gerçeği deterministic araçlar üretir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Ana tasarım prensibimiz: dil modeli kullanıcı niyetini ve bağlamını çözer; kâr payı, taksit, vade, limit ve masraf gibi sayıları ise yalnız doğrulanmış BANSA araçları belirler.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3493008" cy="117043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029968"/>
            <a:ext cx="30175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A192F"/>
                </a:solidFill>
                <a:latin typeface="Aptos"/>
              </a:rPr>
              <a:t>Qwen3 30B-A3B MoE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86584"/>
            <a:ext cx="2980944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Final on-prem ana LLM hedefi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NLU · intent/entity/slot · tool orchestration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1828800"/>
            <a:ext cx="3493008" cy="117043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2029968"/>
            <a:ext cx="30175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3770DB"/>
                </a:solidFill>
                <a:latin typeface="Aptos"/>
              </a:rPr>
              <a:t>Qwen3-0.6B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2386584"/>
            <a:ext cx="2980944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Geliştirme naturalizer’ı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Verified fact → doğal Türkçe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828800"/>
            <a:ext cx="3493008" cy="117043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029968"/>
            <a:ext cx="301752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00A6A6"/>
                </a:solidFill>
                <a:latin typeface="Aptos"/>
              </a:rPr>
              <a:t>Qwen3-Embedding-0.6B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386584"/>
            <a:ext cx="2980944" cy="40233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Dense retrieval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Banka metni → embedding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19272"/>
            <a:ext cx="109728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TOOL ORCHESTRATION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675887"/>
            <a:ext cx="1828800" cy="749808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785615"/>
            <a:ext cx="150876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Kullanıcı Sorusu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386791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62072" y="3584448"/>
            <a:ext cx="2240280" cy="932688"/>
          </a:xfrm>
          <a:prstGeom prst="roundRect">
            <a:avLst/>
          </a:prstGeom>
          <a:solidFill>
            <a:srgbClr val="F3F8FD"/>
          </a:solidFill>
          <a:ln w="12700">
            <a:solidFill>
              <a:srgbClr val="C3D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3694176"/>
            <a:ext cx="18288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3770DB"/>
                </a:solidFill>
                <a:latin typeface="Aptos"/>
              </a:rPr>
              <a:t>Qwen Local 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3959352"/>
            <a:ext cx="1828800" cy="3200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0">
                <a:solidFill>
                  <a:srgbClr val="1C2736"/>
                </a:solidFill>
                <a:latin typeface="Aptos"/>
              </a:rPr>
              <a:t>intent · bank · product</a:t>
            </a:r>
            <a:br/>
            <a:r>
              <a:rPr sz="800" b="0">
                <a:solidFill>
                  <a:srgbClr val="1C2736"/>
                </a:solidFill>
                <a:latin typeface="Aptos"/>
              </a:rPr>
              <a:t>amount · maturity ·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38928" y="3867912"/>
            <a:ext cx="347472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8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04688" y="3639312"/>
            <a:ext cx="1417320" cy="80467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77840" y="3739896"/>
            <a:ext cx="1271016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EF973B"/>
                </a:solidFill>
                <a:latin typeface="Aptos"/>
              </a:rPr>
              <a:t>Campaign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986784"/>
            <a:ext cx="12710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1C2736"/>
                </a:solidFill>
                <a:latin typeface="Aptos"/>
              </a:rPr>
              <a:t>Search / Compare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31736" y="3639312"/>
            <a:ext cx="1417320" cy="80467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3739896"/>
            <a:ext cx="1271016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279A66"/>
                </a:solidFill>
                <a:latin typeface="Aptos"/>
              </a:rPr>
              <a:t>Finance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04888" y="3986784"/>
            <a:ext cx="12710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1C2736"/>
                </a:solidFill>
                <a:latin typeface="Aptos"/>
              </a:rPr>
              <a:t>Deterministic Engine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58784" y="3639312"/>
            <a:ext cx="1417320" cy="80467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3739896"/>
            <a:ext cx="1271016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0A6A6"/>
                </a:solidFill>
                <a:latin typeface="Aptos"/>
              </a:rPr>
              <a:t>Product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1936" y="3986784"/>
            <a:ext cx="12710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1C2736"/>
                </a:solidFill>
                <a:latin typeface="Aptos"/>
              </a:rPr>
              <a:t>RAG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085832" y="3639312"/>
            <a:ext cx="1417320" cy="804672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58984" y="3739896"/>
            <a:ext cx="1271016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3770DB"/>
                </a:solidFill>
                <a:latin typeface="Aptos"/>
              </a:rPr>
              <a:t>Live Calc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58984" y="3986784"/>
            <a:ext cx="1271016" cy="23774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700" b="0">
                <a:solidFill>
                  <a:srgbClr val="1C2736"/>
                </a:solidFill>
                <a:latin typeface="Aptos"/>
              </a:rPr>
              <a:t>Bank Adapters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60720" y="4663440"/>
            <a:ext cx="516636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5B697B"/>
                </a:solidFill>
                <a:latin typeface="Aptos"/>
              </a:rPr>
              <a:t>↓    doğrulanmış sonuçlar birleşir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956048"/>
            <a:ext cx="3840480" cy="658368"/>
          </a:xfrm>
          <a:prstGeom prst="roundRect">
            <a:avLst/>
          </a:prstGeom>
          <a:solidFill>
            <a:srgbClr val="F1F9F8"/>
          </a:solidFill>
          <a:ln w="12700">
            <a:solidFill>
              <a:srgbClr val="D1EB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0256" y="5093208"/>
            <a:ext cx="33832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1">
                <a:solidFill>
                  <a:srgbClr val="00A6A6"/>
                </a:solidFill>
                <a:latin typeface="Aptos"/>
              </a:rPr>
              <a:t>Verified Fact Pack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05288" y="5102352"/>
            <a:ext cx="384048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5B697B"/>
                </a:solidFill>
                <a:latin typeface="Aptos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716768" y="4956048"/>
            <a:ext cx="841248" cy="658368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71632" y="5020056"/>
            <a:ext cx="73152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Doğal</a:t>
            </a:r>
            <a:br/>
            <a:r>
              <a:rPr sz="800" b="1">
                <a:solidFill>
                  <a:srgbClr val="FFFFFF"/>
                </a:solidFill>
                <a:latin typeface="Aptos"/>
              </a:rPr>
              <a:t>Cevap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5779008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13232" y="5934456"/>
            <a:ext cx="256032" cy="256032"/>
          </a:xfrm>
          <a:prstGeom prst="ellipse">
            <a:avLst/>
          </a:prstGeom>
          <a:solidFill>
            <a:srgbClr val="DA4C4C"/>
          </a:solidFill>
          <a:ln>
            <a:solidFill>
              <a:srgbClr val="DA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992" y="5861304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DA4C4C"/>
                </a:solidFill>
                <a:latin typeface="Aptos"/>
              </a:rPr>
              <a:t>KIRMIZI ÇİZGİ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95728" y="5843016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LLM hiçbir zaman “%3,20” gibi yeni bir oran uyduramaz. Naturalizer yalnız verified fact pack içeriğini yeniden ifade eder; numeric/grounding verifier bunu ayrıca kontrol eder.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201168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00A6A6"/>
                </a:solidFill>
                <a:latin typeface="Aptos"/>
              </a:rPr>
              <a:t>AŞAMA 6 · GÜVENILIRLIK &amp; BAĞLAM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1064240" cy="5120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0A192F"/>
                </a:solidFill>
                <a:latin typeface="Aptos Display"/>
              </a:rPr>
              <a:t>Gerçek kullanıcı hatalarını mimari kurallara dönüştürdük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69848"/>
            <a:ext cx="1097280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5B697B"/>
                </a:solidFill>
                <a:latin typeface="Aptos"/>
              </a:rPr>
              <a:t>BANSA’nın en çok geliştirildiği alan yalnız doğruluk değil; yanlış bağlam taşınması, eski snapshot, amount ambiguity ve başka kampanyaya/bankaya kayma gibi gerçek kullanım hatalarıydı.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1792" y="1856231"/>
            <a:ext cx="2651760" cy="124358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75688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279A66"/>
                </a:solidFill>
                <a:latin typeface="Aptos"/>
              </a:rPr>
              <a:t>EXACT / LIVE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14016"/>
            <a:ext cx="2249424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Exact scenario gate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Calculator-first comparison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6432" y="1856231"/>
            <a:ext cx="2651760" cy="124358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75688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FRESHNESS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414016"/>
            <a:ext cx="2249424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Live → current static → fresh scenario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Historical snapshot güncel sayılmaz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91072" y="1856231"/>
            <a:ext cx="2651760" cy="124358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075688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DA4C4C"/>
                </a:solidFill>
                <a:latin typeface="Aptos"/>
              </a:rPr>
              <a:t>GROUNDING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14016"/>
            <a:ext cx="2249424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Numeric + relation verifier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Kaynakta olmayan sayı → reject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5712" y="1856231"/>
            <a:ext cx="2651760" cy="124358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D3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2075688"/>
            <a:ext cx="2286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EF973B"/>
                </a:solidFill>
                <a:latin typeface="Aptos"/>
              </a:rPr>
              <a:t>AMOUNT SEMANTICS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414016"/>
            <a:ext cx="2249424" cy="4754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1C2736"/>
                </a:solidFill>
                <a:latin typeface="Aptos"/>
              </a:rPr>
              <a:t>asset_value ≠ requested_financing_amount</a:t>
            </a:r>
            <a:br/>
            <a:r>
              <a:rPr sz="900" b="0">
                <a:solidFill>
                  <a:srgbClr val="1C2736"/>
                </a:solidFill>
                <a:latin typeface="Aptos"/>
              </a:rPr>
              <a:t>Belirsizse açıklama gerekir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383280"/>
            <a:ext cx="7424927" cy="1856231"/>
          </a:xfrm>
          <a:prstGeom prst="roundRect">
            <a:avLst/>
          </a:prstGeom>
          <a:solidFill>
            <a:srgbClr val="F3F8FD"/>
          </a:solidFill>
          <a:ln w="12700">
            <a:solidFill>
              <a:srgbClr val="D7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3602736"/>
            <a:ext cx="68580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770DB"/>
                </a:solidFill>
                <a:latin typeface="Aptos"/>
              </a:rPr>
              <a:t>CONTEXT POISONING → EXPLICIT OVERRIDE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959352"/>
            <a:ext cx="274320" cy="274320"/>
          </a:xfrm>
          <a:prstGeom prst="ellipse">
            <a:avLst/>
          </a:prstGeom>
          <a:solidFill>
            <a:srgbClr val="3770DB"/>
          </a:solidFill>
          <a:ln>
            <a:solidFill>
              <a:srgbClr val="37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68496"/>
            <a:ext cx="274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941064"/>
            <a:ext cx="6217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“Vakıf motosiklet finansmanı nasıl?”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270248"/>
            <a:ext cx="274320" cy="274320"/>
          </a:xfrm>
          <a:prstGeom prst="ellipse">
            <a:avLst/>
          </a:prstGeom>
          <a:solidFill>
            <a:srgbClr val="3770DB"/>
          </a:solidFill>
          <a:ln>
            <a:solidFill>
              <a:srgbClr val="37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279392"/>
            <a:ext cx="274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8448" y="4251960"/>
            <a:ext cx="6217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“600 bin için?”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4581144"/>
            <a:ext cx="274320" cy="274320"/>
          </a:xfrm>
          <a:prstGeom prst="ellipse">
            <a:avLst/>
          </a:prstGeom>
          <a:solidFill>
            <a:srgbClr val="3770DB"/>
          </a:solidFill>
          <a:ln>
            <a:solidFill>
              <a:srgbClr val="3770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90288"/>
            <a:ext cx="274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4562856"/>
            <a:ext cx="6217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“24 ay olur mu?”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00A6A6"/>
          </a:solidFill>
          <a:ln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901183"/>
            <a:ext cx="2743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98448" y="4873752"/>
            <a:ext cx="62179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1C2736"/>
                </a:solidFill>
                <a:latin typeface="Aptos"/>
              </a:rPr>
              <a:t>“100 bin 36 ay araç finansmanlarını karşılaştır.”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01184" y="4846320"/>
            <a:ext cx="274320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00A6A6"/>
                </a:solidFill>
                <a:latin typeface="Aptos"/>
              </a:rPr>
              <a:t>Yeni explicit product / intent  &gt;  eski context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3383280"/>
            <a:ext cx="3273552" cy="1856231"/>
          </a:xfrm>
          <a:prstGeom prst="roundRect">
            <a:avLst/>
          </a:prstGeom>
          <a:solidFill>
            <a:srgbClr val="0A192F"/>
          </a:solidFill>
          <a:ln w="12700">
            <a:solidFill>
              <a:srgbClr val="0A19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0496" y="3621024"/>
            <a:ext cx="2697480" cy="21945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5C9D9"/>
                </a:solidFill>
                <a:latin typeface="Aptos"/>
              </a:rPr>
              <a:t>REGRESSION TESTLERİ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2208" y="3968496"/>
            <a:ext cx="1143000" cy="3931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"/>
              </a:rPr>
              <a:t>800+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82912" y="4014215"/>
            <a:ext cx="1508760" cy="310896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D1DEE8"/>
                </a:solidFill>
                <a:latin typeface="Aptos"/>
              </a:rPr>
              <a:t>ilerleyen fazlarda</a:t>
            </a:r>
            <a:br/>
            <a:r>
              <a:rPr sz="800" b="0">
                <a:solidFill>
                  <a:srgbClr val="D1DEE8"/>
                </a:solidFill>
                <a:latin typeface="Aptos"/>
              </a:rPr>
              <a:t>regresyon testi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40496" y="4498848"/>
            <a:ext cx="260604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D1DEE8"/>
                </a:solidFill>
                <a:latin typeface="Aptos"/>
              </a:rPr>
              <a:t>Context poisoning · campaign contamination · stale snapshot · hallucinated calculation · calculator constraint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522976"/>
            <a:ext cx="11183112" cy="603504"/>
          </a:xfrm>
          <a:prstGeom prst="roundRect">
            <a:avLst/>
          </a:prstGeom>
          <a:solidFill>
            <a:srgbClr val="F3F7FB"/>
          </a:solidFill>
          <a:ln w="12700">
            <a:solidFill>
              <a:srgbClr val="F3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713232" y="5678424"/>
            <a:ext cx="256032" cy="256032"/>
          </a:xfrm>
          <a:prstGeom prst="ellipse">
            <a:avLst/>
          </a:prstGeom>
          <a:solidFill>
            <a:srgbClr val="279A66"/>
          </a:solidFill>
          <a:ln>
            <a:solidFill>
              <a:srgbClr val="279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5605272"/>
            <a:ext cx="141732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279A66"/>
                </a:solidFill>
                <a:latin typeface="Aptos"/>
              </a:rPr>
              <a:t>SONUÇ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95728" y="5586984"/>
            <a:ext cx="9052560" cy="420624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1C2736"/>
                </a:solidFill>
                <a:latin typeface="Aptos"/>
              </a:rPr>
              <a:t>Sistem “veri bulamadığında” sayı uydurmaz; doğrulanmış bilgi varsa kademeli yanıt verir, yoksa güvenli biçimde sınırını açıklar.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291A0"/>
                </a:solidFill>
                <a:latin typeface="Aptos"/>
              </a:rPr>
              <a:t>BANSA · Doğrulanabilir Katılım Bankacılığı Yapay Zekâ Ajanı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83096"/>
            <a:ext cx="457200" cy="20116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291A0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411480"/>
            <a:ext cx="107899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35C9D9"/>
                </a:solidFill>
                <a:latin typeface="Aptos"/>
              </a:rPr>
              <a:t>BUGÜNKÜ BANSA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86384"/>
            <a:ext cx="10789920" cy="5943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Doğal konuşur; fakat yalnız</a:t>
            </a:r>
            <a:br/>
            <a:r>
              <a:rPr sz="2800" b="1">
                <a:solidFill>
                  <a:srgbClr val="FFFFFF"/>
                </a:solidFill>
                <a:latin typeface="Aptos Display"/>
              </a:rPr>
              <a:t>doğrulanmış veriyle cevap verir.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645920"/>
            <a:ext cx="1078992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0">
                <a:solidFill>
                  <a:srgbClr val="C2D6E5"/>
                </a:solidFill>
                <a:latin typeface="Aptos"/>
              </a:rPr>
              <a:t>İlk günkü scraper’dan; veri, hybrid RAG, local agent, deterministic finance tools ve verifier birleşimine ulaştık.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223760" cy="2286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35C9D9"/>
                </a:solidFill>
                <a:latin typeface="Aptos"/>
              </a:rPr>
              <a:t>FINAL MİMARİ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2596896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633472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Kullanıcı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22191" y="2962656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3072384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3108960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Conversation + NLU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22191" y="3438144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" y="3547872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3584448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Tool Orchestration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22191" y="3913632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" y="4023360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059936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Campaign · Finance · RAG · Live Calc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1" y="4389120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" y="4498848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535424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Verified Fact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1" y="4864608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" y="4974336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7552" y="5010912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Qwen Naturalizer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1" y="5340096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5449823"/>
            <a:ext cx="6364224" cy="393192"/>
          </a:xfrm>
          <a:prstGeom prst="roundRect">
            <a:avLst/>
          </a:prstGeom>
          <a:solidFill>
            <a:srgbClr val="24374F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552" y="5486399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Numeric / Grounding Verifier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2191" y="5815583"/>
            <a:ext cx="32004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87A0B3"/>
                </a:solidFill>
                <a:latin typeface="Aptos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" y="5925311"/>
            <a:ext cx="6364224" cy="393192"/>
          </a:xfrm>
          <a:prstGeom prst="roundRect">
            <a:avLst/>
          </a:prstGeom>
          <a:solidFill>
            <a:srgbClr val="00A6A6"/>
          </a:solidFill>
          <a:ln w="12700">
            <a:solidFill>
              <a:srgbClr val="374E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5961887"/>
            <a:ext cx="598932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A192F"/>
                </a:solidFill>
                <a:latin typeface="Aptos"/>
              </a:rPr>
              <a:t>Kaynaklı Doğal Cevap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18120" y="2267712"/>
            <a:ext cx="3703320" cy="3154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1583" y="2542032"/>
            <a:ext cx="310896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0A192F"/>
                </a:solidFill>
                <a:latin typeface="Aptos"/>
              </a:rPr>
              <a:t>BAŞARIYI GÖSTEREN GÖSTERGELER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19872" y="2971800"/>
            <a:ext cx="11430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10/10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8592" y="2990088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BDDK banka kapsamı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19872" y="3483864"/>
            <a:ext cx="11430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274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592" y="3502152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standart ürün snapshot’ı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19872" y="3995928"/>
            <a:ext cx="11430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800+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8592" y="4014215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regresyon testi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19872" y="4507992"/>
            <a:ext cx="11430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00A6A6"/>
                </a:solidFill>
                <a:latin typeface="Aptos"/>
              </a:rPr>
              <a:t>ON-PREM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08592" y="4526279"/>
            <a:ext cx="178308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900" b="0">
                <a:solidFill>
                  <a:srgbClr val="5B697B"/>
                </a:solidFill>
                <a:latin typeface="Aptos"/>
              </a:rPr>
              <a:t>final LLM hedefi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19872" y="5074920"/>
            <a:ext cx="3017520" cy="23774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900" b="1">
                <a:solidFill>
                  <a:srgbClr val="0A192F"/>
                </a:solidFill>
                <a:latin typeface="Aptos"/>
              </a:rPr>
              <a:t>HYBRID RAG · EXACT/LIVE · KAYNAKLI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" y="5696712"/>
            <a:ext cx="10899648" cy="548640"/>
          </a:xfrm>
          <a:prstGeom prst="roundRect">
            <a:avLst/>
          </a:prstGeom>
          <a:solidFill>
            <a:srgbClr val="112744"/>
          </a:solidFill>
          <a:ln w="12700">
            <a:solidFill>
              <a:srgbClr val="3B5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112" y="5806440"/>
            <a:ext cx="1033272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“BANSA, finansal gerçeği modelden değil; doğrulanmış veri ve araçlardan üretir.”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777240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8BA0B2"/>
                </a:solidFill>
                <a:latin typeface="Aptos"/>
              </a:rPr>
              <a:t>Kaynak: BANSA teknik gelişim özeti · proje içi test/audit kayıtları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0" y="6446520"/>
            <a:ext cx="411480" cy="16459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900" b="1">
                <a:solidFill>
                  <a:srgbClr val="8BA0B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D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AA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728655" cy="1463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Bizi Dinlediğiniz İçin Teşekkürler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